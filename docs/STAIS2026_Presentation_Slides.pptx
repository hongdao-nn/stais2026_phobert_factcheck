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[0:00 - 1:00 | SLIDE 1: TITLE SLIDE]</a:t>
            </a:r>
          </a:p>
          <a:p>
            <a:r>
              <a:t>Good morning/afternoon, distinguished Session Chairs, respected researchers, and colleagues.</a:t>
            </a:r>
          </a:p>
          <a:p>
            <a:r>
              <a:t>My name is Dao Ngoc Hong Nguyen, representing the research group from the Faculty of Data Science in Business at Ho Chi Minh University of Banking (HUB), Vietnam.</a:t>
            </a:r>
          </a:p>
          <a:p>
            <a:r>
              <a:t>Today, I am honored to present our paper, Submission #190: 'Configuration-Level Analysis of PhoBERT for Vietnamese Economic and Business Fact Verification: Performance and Computational Cost.'</a:t>
            </a:r>
          </a:p>
          <a:p>
            <a:r>
              <a:t>We investigate the exact engineering trade-offs between predictive accuracy, memory footprint, and verification safety when deploying pretrained Vietnamese language models in high-stakes financial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[1:00 - 1:30 | SLIDE 2: TABLE OF CONTENTS]</a:t>
            </a:r>
          </a:p>
          <a:p>
            <a:r>
              <a:t>Our presentation is structured into four coherent parts:</a:t>
            </a:r>
          </a:p>
          <a:p>
            <a:r>
              <a:t>Part 1 outlines the financial motivation and our research questions.</a:t>
            </a:r>
          </a:p>
          <a:p>
            <a:r>
              <a:t>Part 2 describes our domain-filtered dataset and shared 4-stage pipeline.</a:t>
            </a:r>
          </a:p>
          <a:p>
            <a:r>
              <a:t>Part 3 presents our empirical benchmark results across predictive accuracy and hardware savings.</a:t>
            </a:r>
          </a:p>
          <a:p>
            <a:r>
              <a:t>And Part 4 delivers our diagnostic error taxonomy and proposed Two-Stage Cascade Triage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[1:30 - 2:30 | SLIDE 3: MOTIVATION &amp; PROBLEM STATEMENT]</a:t>
            </a:r>
          </a:p>
          <a:p>
            <a:r>
              <a:t>Let us examine why automated financial fact-checking is both uniquely vital and technically challenging.</a:t>
            </a:r>
          </a:p>
          <a:p>
            <a:r>
              <a:t>Economic news moves markets instantaneously. Unlike general domains, financial statements hinge on exact quantities, interest rate changes, and temporal quarters.</a:t>
            </a:r>
          </a:p>
          <a:p>
            <a:r>
              <a:t>A 3-way classification system must determine whether candidate evidence confirms, refutes, or lacks sufficient information.</a:t>
            </a:r>
          </a:p>
          <a:p>
            <a:r>
              <a:t>However, existing studies focus almost exclusively on benchmark F1 scores, overlooking cloud VRAM constraints and inference latency.</a:t>
            </a:r>
          </a:p>
          <a:p>
            <a:r>
              <a:t>Our study addresses this exact gap: What happens to verification reliability when models are compressed for practical newsroom deployment?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[2:30 - 3:30 | SLIDE 4: RESEARCH QUESTIONS &amp; SCOPE]</a:t>
            </a:r>
          </a:p>
          <a:p>
            <a:r>
              <a:t>To rigorously investigate this trade-off, we formalize three specific research questions:</a:t>
            </a:r>
          </a:p>
          <a:p>
            <a:r>
              <a:t>RQ1 measures the magnitude of predictive accuracy loss across classes when optimizing for speed.</a:t>
            </a:r>
          </a:p>
          <a:p>
            <a:r>
              <a:t>RQ2 benchmarks the hardware-level resource reductions on standard NVIDIA Tesla T4 GPUs.</a:t>
            </a:r>
          </a:p>
          <a:p>
            <a:r>
              <a:t>And RQ3 applies a rigorous methodological lens: distinguishing mathematically guaranteed structural savings from bundled empirical hypotheses.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[3:30 - 4:15 | SLIDE 5: DATASET &amp; DIAGNOSTIC SLICE]</a:t>
            </a:r>
          </a:p>
          <a:p>
            <a:r>
              <a:t>Turning to our experimental data:</a:t>
            </a:r>
          </a:p>
          <a:p>
            <a:r>
              <a:t>We extracted all economic and business claim-evidence pairs from ViFactCheck, published at AAAI 2025.</a:t>
            </a:r>
          </a:p>
          <a:p>
            <a:r>
              <a:t>This yields 682 pairs with a balanced 3-way distribution.</a:t>
            </a:r>
          </a:p>
          <a:p>
            <a:r>
              <a:t>Crucially, we isolated a 71-sample diagnostic slice from the test set.</a:t>
            </a:r>
          </a:p>
          <a:p>
            <a:r>
              <a:t>This subset contains dense financial quantities, fiscal quarters, and percentage indices, serving as an acid test for numerical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[4:15 - 5:15 | SLIDE 6: SHARED PIPELINE ARCHITECTURE]</a:t>
            </a:r>
          </a:p>
          <a:p>
            <a:r>
              <a:t>Slide 6 presents our end-to-end fact verification pipeline flowchart.</a:t>
            </a:r>
          </a:p>
          <a:p>
            <a:r>
              <a:t>Both systems follow four standardized stages:</a:t>
            </a:r>
          </a:p>
          <a:p>
            <a:r>
              <a:t>Stage 1 performs linguistic preprocessing and entity normalization.</a:t>
            </a:r>
          </a:p>
          <a:p>
            <a:r>
              <a:t>Stage 2 retrieves candidate evidence sentences via BM25 lexical scoring.</a:t>
            </a:r>
          </a:p>
          <a:p>
            <a:r>
              <a:t>Stage 3 encodes concatenated claim-evidence pairs through vinai/phobert-base.</a:t>
            </a:r>
          </a:p>
          <a:p>
            <a:r>
              <a:t>And Stage 4 generates the final 3-way verdict.</a:t>
            </a:r>
          </a:p>
          <a:p>
            <a:r>
              <a:t>Notice the highlighted configuration trade-offs in stages 2, 3, and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[5:15 - 6:00 | SLIDE 7: COMPARED CONFIGURATIONS]</a:t>
            </a:r>
          </a:p>
          <a:p>
            <a:r>
              <a:t>Here we summarize the architectural parameters of both configurations.</a:t>
            </a:r>
          </a:p>
          <a:p>
            <a:r>
              <a:t>v1 serves as our performance benchmark: maximum sequence length of 256 tokens, top-5 evidence sentences, and standard cross-entropy.</a:t>
            </a:r>
          </a:p>
          <a:p>
            <a:r>
              <a:t>v2 represents our aggressive efficiency optimization: compressed to 192 tokens (-25%), top-4 evidence, Focal Loss, 4-layer pooling, and clause-swapped data augmentation.</a:t>
            </a:r>
          </a:p>
          <a:p>
            <a:r>
              <a:t>Crucially, both models are trained and evaluated on identical NVIDIA Tesla T4 hardware in FP16 mixed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[6:00 - 7:00 | SLIDE 8: PREDICTIVE PERFORMANCE]</a:t>
            </a:r>
          </a:p>
          <a:p>
            <a:r>
              <a:t>Examining our predictive findings:</a:t>
            </a:r>
          </a:p>
          <a:p>
            <a:r>
              <a:t>Reference v1 convincingly outperforms efficiency v2 across all predictive metrics.</a:t>
            </a:r>
          </a:p>
          <a:p>
            <a:r>
              <a:t>Macro F1 falls by 18% (0.738 to 0.605), and test accuracy drops from 73.8% to 61.0%.</a:t>
            </a:r>
          </a:p>
          <a:p>
            <a:r>
              <a:t>Notice the two alarming failure modes:</a:t>
            </a:r>
          </a:p>
          <a:p>
            <a:r>
              <a:t>First, numerical accuracy drops by nearly 30 percentage points, from 88.7% to 59.2%.</a:t>
            </a:r>
          </a:p>
          <a:p>
            <a:r>
              <a:t>Second, NEI recall collapses to just 0.44.</a:t>
            </a:r>
          </a:p>
          <a:p>
            <a:r>
              <a:t>This asymmetry is dangerous: in financial auditing, fabricating a definitive True or False when evidence is missing generates dangerous misinformation.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[7:00 - 8:00 | SLIDE 9: COMPUTATIONAL EFFICIENCY]</a:t>
            </a:r>
          </a:p>
          <a:p>
            <a:r>
              <a:t>On the hardware side, Slide 9 demonstrates the massive computational gains of v2:</a:t>
            </a:r>
          </a:p>
          <a:p>
            <a:r>
              <a:t>Peak VRAM is reduced by 43.2%, from 10.4 GB down to 5.9 GB.</a:t>
            </a:r>
          </a:p>
          <a:p>
            <a:r>
              <a:t>Latency decreases by 38.8%, and overall training time drops by 40%.</a:t>
            </a:r>
          </a:p>
          <a:p>
            <a:r>
              <a:t>Importantly, we show that the 43.2% VRAM saving is not an empirical fluke.</a:t>
            </a:r>
          </a:p>
          <a:p>
            <a:r>
              <a:t>Because self-attention memory scales quadratically, shortening length from 256 to 192 tokens predicts an exact 43.75% memory drop.</a:t>
            </a:r>
          </a:p>
          <a:p>
            <a:r>
              <a:t>Our measured 43.2% reduction matches this theoretical model, confirming that these savings are hardware-invariant.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[8:00 - 9:00 | SLIDE 10: ABLATION ANALYSIS]</a:t>
            </a:r>
          </a:p>
          <a:p>
            <a:r>
              <a:t>Slide 10 disentangles facts from hypotheses through two specific ablations:</a:t>
            </a:r>
          </a:p>
          <a:p>
            <a:r>
              <a:t>First, our human audit of 100 synthetic claims confirmed 94% strict label preservation, proving that data augmentation was not responsible for performance drops.</a:t>
            </a:r>
          </a:p>
          <a:p>
            <a:r>
              <a:t>Second, we tested whether the post-hoc entropy rule explained the low NEI recall.</a:t>
            </a:r>
          </a:p>
          <a:p>
            <a:r>
              <a:t>As shown on the right, applying the 0.95 entropy threshold dropped Macro F1 by 10 points because it blindly forced 43 claims into NEI.</a:t>
            </a:r>
          </a:p>
          <a:p>
            <a:r>
              <a:t>This confirms that our reported Table 3 numbers represent the true raw v2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[9:00 - 10:00 | SLIDE 11: TWO-STAGE CASCADE POLICY]</a:t>
            </a:r>
          </a:p>
          <a:p>
            <a:r>
              <a:t>Slide 11 delivers our practical engineering solution to the speed-accuracy trade-off.</a:t>
            </a:r>
          </a:p>
          <a:p>
            <a:r>
              <a:t>Our error taxonomy revealed that 58.6% of numerical errors were caused by retrieval misses and token truncation.</a:t>
            </a:r>
          </a:p>
          <a:p>
            <a:r>
              <a:t>Rather than choosing between slow v1 or risky v2, we deploy a Two-Stage Cascade Triage Policy shown in the flowchart:</a:t>
            </a:r>
          </a:p>
          <a:p>
            <a:r>
              <a:t>Stage 1 filters high-confidence, non-numeric claims using lightweight v2, instantly resolving 65% of news traffic at 0.52s latency.</a:t>
            </a:r>
          </a:p>
          <a:p>
            <a:r>
              <a:t>Only ambiguous or dense numerical claims are escalated to Stage 2 with full v1.</a:t>
            </a:r>
          </a:p>
          <a:p>
            <a:r>
              <a:t>Simulation proves this hybrid cascade preserves 97.4% of v1's Macro F1 while delivering a 25.8% overall latency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[10:00 - 10:45 | SLIDE 12: CONCLUSION &amp; FUTURE DIRECTIONS]</a:t>
            </a:r>
          </a:p>
          <a:p>
            <a:r>
              <a:t>To summarize our findings:</a:t>
            </a:r>
          </a:p>
          <a:p>
            <a:r>
              <a:t>Reference v1 is indispensable when financial truth cannot be compromised.</a:t>
            </a:r>
          </a:p>
          <a:p>
            <a:r>
              <a:t>Efficiency v2 provides remarkable 43% VRAM savings, but aggressive truncation introduces severe NEI vulnerability.</a:t>
            </a:r>
          </a:p>
          <a:p>
            <a:r>
              <a:t>Our Two-Stage Cascade triage bridges this gap, unlocking production-grade Pareto efficiency.</a:t>
            </a:r>
          </a:p>
          <a:p>
            <a:r>
              <a:t>In our future roadmap, we plan to design 'v1-Lite' with asymmetric loss and query-guided token allocation.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[10:45 - 11:00 | SLIDE 13: Q&amp;A]</a:t>
            </a:r>
          </a:p>
          <a:p>
            <a:r>
              <a:t>Thank you Session Chairs, professors, and esteemed delegates.</a:t>
            </a:r>
          </a:p>
          <a:p>
            <a:r>
              <a:t>I am now delighted to answer any questions regarding our methodologies, benchmarks, or cascade deployment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express our deepest gratitude to our advisors and Ho Chi Minh University of Banking for supporting this research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11277295" y="-4572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457200" y="59436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640080"/>
            <a:ext cx="10728655" cy="5577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"/>
            <a:ext cx="10728655" cy="146304"/>
          </a:xfrm>
          <a:prstGeom prst="rect">
            <a:avLst/>
          </a:prstGeom>
          <a:solidFill>
            <a:srgbClr val="10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05156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 i="0">
                <a:solidFill>
                  <a:srgbClr val="D97706"/>
                </a:solidFill>
                <a:latin typeface="Arial"/>
              </a:rPr>
              <a:t>STAIS 2026 — INTERNATIONAL CONFERENCE  |  SUBMISSION #190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0876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300" b="1" i="0">
                <a:solidFill>
                  <a:srgbClr val="102A54"/>
                </a:solidFill>
                <a:latin typeface="Arial"/>
              </a:rPr>
              <a:t>CONFIGURATION-LEVEL ANALYSIS OF PHOBERT FOR VIETNAMESE ECONOMIC AND BUSINESS FACT VERIFICATION:
PERFORMANCE AND COMPUTATIONAL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3337560"/>
            <a:ext cx="2286000" cy="384048"/>
          </a:xfrm>
          <a:prstGeom prst="roundRect">
            <a:avLst/>
          </a:prstGeom>
          <a:solidFill>
            <a:srgbClr val="10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Oral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8620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2E5B88"/>
                </a:solidFill>
                <a:latin typeface="Arial"/>
              </a:rPr>
              <a:t>Presenter: </a:t>
            </a:r>
            <a:r>
              <a:rPr sz="1350" b="1" i="0">
                <a:solidFill>
                  <a:srgbClr val="1E293B"/>
                </a:solidFill>
                <a:latin typeface="Arial"/>
              </a:rPr>
              <a:t>Dao Ngoc Hong Nguyen</a:t>
            </a:r>
          </a:p>
          <a:p>
            <a:pPr algn="ctr">
              <a:spcBef>
                <a:spcPts val="400"/>
              </a:spcBef>
            </a:pPr>
            <a:r>
              <a:rPr sz="1150" b="0" i="0">
                <a:solidFill>
                  <a:srgbClr val="64748B"/>
                </a:solidFill>
                <a:latin typeface="Arial"/>
              </a:rPr>
              <a:t>Co-authors: Trang Thao Ngo, Tran Duy Bao Nguyen, Ha Thanh Nguyen*, Thuan Dinh Dang*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 i="0">
                <a:solidFill>
                  <a:srgbClr val="102A54"/>
                </a:solidFill>
                <a:latin typeface="Arial"/>
              </a:rPr>
              <a:t>Faculty of Data Science in Business  |  Ho Chi Minh University of Banking (HUB), Vietnam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11277295" y="-4572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457200" y="59436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2E5B88"/>
                </a:solidFill>
                <a:latin typeface="Arial"/>
              </a:rPr>
              <a:t>STAIS 2026  |  SUBMISSION #190  |  ORAL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02A54"/>
                </a:solidFill>
                <a:latin typeface="Arial"/>
              </a:rPr>
              <a:t>TABLE OF CONTENTS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4990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536192"/>
            <a:ext cx="2224735" cy="640080"/>
          </a:xfrm>
          <a:prstGeom prst="roundRect">
            <a:avLst/>
          </a:prstGeom>
          <a:solidFill>
            <a:srgbClr val="10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PART 01
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Context &amp;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31720"/>
            <a:ext cx="21762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r>
              <a:rPr sz="1050" b="0" i="0">
                <a:solidFill>
                  <a:srgbClr val="1E293B"/>
                </a:solidFill>
                <a:latin typeface="Arial"/>
              </a:rPr>
              <a:t>•  Motivation &amp; Financial Stakes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sz="1050" b="0" i="0">
                <a:solidFill>
                  <a:srgbClr val="1E293B"/>
                </a:solidFill>
                <a:latin typeface="Arial"/>
              </a:rPr>
              <a:t>•  Core Dilemma: Speed vs. Safety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sz="1050" b="0" i="0">
                <a:solidFill>
                  <a:srgbClr val="1E293B"/>
                </a:solidFill>
                <a:latin typeface="Arial"/>
              </a:rPr>
              <a:t>•  Four Research Questions &amp;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371600"/>
            <a:ext cx="24990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11880" y="1536192"/>
            <a:ext cx="2224735" cy="64008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PART 02
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Data &amp;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331720"/>
            <a:ext cx="21762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r>
              <a:rPr sz="1050" b="0" i="0">
                <a:solidFill>
                  <a:srgbClr val="1E293B"/>
                </a:solidFill>
                <a:latin typeface="Arial"/>
              </a:rPr>
              <a:t>•  ViFactCheck Economic Corpus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sz="1050" b="0" i="0">
                <a:solidFill>
                  <a:srgbClr val="1E293B"/>
                </a:solidFill>
                <a:latin typeface="Arial"/>
              </a:rPr>
              <a:t>•  Numerically Rich Diagnostic Slice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sz="1050" b="0" i="0">
                <a:solidFill>
                  <a:srgbClr val="1E293B"/>
                </a:solidFill>
                <a:latin typeface="Arial"/>
              </a:rPr>
              <a:t>•  Shared 4-Stage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24990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536192"/>
            <a:ext cx="2224735" cy="6400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PART 03
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Experimental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331720"/>
            <a:ext cx="21762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r>
              <a:rPr sz="1050" b="0" i="0">
                <a:solidFill>
                  <a:srgbClr val="1E293B"/>
                </a:solidFill>
                <a:latin typeface="Arial"/>
              </a:rPr>
              <a:t>•  Compared Configurations (v1 vs v2)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sz="1050" b="0" i="0">
                <a:solidFill>
                  <a:srgbClr val="1E293B"/>
                </a:solidFill>
                <a:latin typeface="Arial"/>
              </a:rPr>
              <a:t>•  Predictive Trade-offs &amp; NEI Drop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sz="1050" b="0" i="0">
                <a:solidFill>
                  <a:srgbClr val="1E293B"/>
                </a:solidFill>
                <a:latin typeface="Arial"/>
              </a:rPr>
              <a:t>•  Computational Cost &amp; VRAM Theory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371600"/>
            <a:ext cx="24990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98280" y="1536192"/>
            <a:ext cx="2224735" cy="6400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PART 04
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Solutions &amp; Outlook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2331720"/>
            <a:ext cx="21762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r>
              <a:rPr sz="1050" b="0" i="0">
                <a:solidFill>
                  <a:srgbClr val="1E293B"/>
                </a:solidFill>
                <a:latin typeface="Arial"/>
              </a:rPr>
              <a:t>•  Ablation: Data &amp; Calibration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sz="1050" b="0" i="0">
                <a:solidFill>
                  <a:srgbClr val="1E293B"/>
                </a:solidFill>
                <a:latin typeface="Arial"/>
              </a:rPr>
              <a:t>•  Error Taxonomy &amp; Cascade Triage</a:t>
            </a: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sz="1050" b="0" i="0">
                <a:solidFill>
                  <a:srgbClr val="1E293B"/>
                </a:solidFill>
                <a:latin typeface="Arial"/>
              </a:rPr>
              <a:t>•  Practical Guidelines &amp;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11277295" y="-4572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457200" y="59436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2E5B88"/>
                </a:solidFill>
                <a:latin typeface="Arial"/>
              </a:rPr>
              <a:t>STAIS 2026  |  SUBMISSION #190  |  ORAL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02A54"/>
                </a:solidFill>
                <a:latin typeface="Arial"/>
              </a:rPr>
              <a:t>MOTIVATION &amp; PROBLEM 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554480"/>
            <a:ext cx="4754880" cy="411480"/>
          </a:xfrm>
          <a:prstGeom prst="roundRect">
            <a:avLst/>
          </a:prstGeom>
          <a:solidFill>
            <a:srgbClr val="10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HIGH STAKES IN FINANCIAL NEWS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 b="1" i="0">
                <a:solidFill>
                  <a:srgbClr val="102A54"/>
                </a:solidFill>
                <a:latin typeface="Arial"/>
              </a:rPr>
              <a:t>•  Market Volatility: </a:t>
            </a:r>
            <a:r>
              <a:rPr sz="1050" b="0" i="0">
                <a:solidFill>
                  <a:srgbClr val="1E293B"/>
                </a:solidFill>
                <a:latin typeface="Arial"/>
              </a:rPr>
              <a:t>Financial claims directly shift investor sentiment, stock prices, and corporate valuation in real time.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 b="1" i="0">
                <a:solidFill>
                  <a:srgbClr val="102A54"/>
                </a:solidFill>
                <a:latin typeface="Arial"/>
              </a:rPr>
              <a:t>•  Dense Numerical Semantics: </a:t>
            </a:r>
            <a:r>
              <a:rPr sz="1050" b="0" i="0">
                <a:solidFill>
                  <a:srgbClr val="1E293B"/>
                </a:solidFill>
                <a:latin typeface="Arial"/>
              </a:rPr>
              <a:t>Claims heavily intertwine ticker symbols, fiscal dates (Q3 vs Q4), and monetary values (VND, USD).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 b="1" i="0">
                <a:solidFill>
                  <a:srgbClr val="102A54"/>
                </a:solidFill>
                <a:latin typeface="Arial"/>
              </a:rPr>
              <a:t>•  Zero Error Tolerance: </a:t>
            </a:r>
            <a:r>
              <a:rPr sz="1050" b="0" i="0">
                <a:solidFill>
                  <a:srgbClr val="1E293B"/>
                </a:solidFill>
                <a:latin typeface="Arial"/>
              </a:rPr>
              <a:t>A single flipped digit or swapped entity reverses economic truth, turning routine news into market panic.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150815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554480"/>
            <a:ext cx="4785055" cy="41148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THE RESOURCE-QUALITY DILEMMA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78505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 b="1" i="0">
                <a:solidFill>
                  <a:srgbClr val="2E5B88"/>
                </a:solidFill>
                <a:latin typeface="Arial"/>
              </a:rPr>
              <a:t>•  3-Way Classification: </a:t>
            </a:r>
            <a:r>
              <a:rPr sz="1050" b="0" i="0">
                <a:solidFill>
                  <a:srgbClr val="1E293B"/>
                </a:solidFill>
                <a:latin typeface="Arial"/>
              </a:rPr>
              <a:t>Models must rigorously verify claims against evidence: SUPPORTED, REFUTED, or NOT ENOUGH INFO (NEI).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 b="1" i="0">
                <a:solidFill>
                  <a:srgbClr val="2E5B88"/>
                </a:solidFill>
                <a:latin typeface="Arial"/>
              </a:rPr>
              <a:t>•  Beyond Benchmark Accuracy: </a:t>
            </a:r>
            <a:r>
              <a:rPr sz="1050" b="0" i="0">
                <a:solidFill>
                  <a:srgbClr val="1E293B"/>
                </a:solidFill>
                <a:latin typeface="Arial"/>
              </a:rPr>
              <a:t>Real-world news aggregation requires high throughput, strict latency (&lt;1s), and limited cloud GPU budgets.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 b="1" i="0">
                <a:solidFill>
                  <a:srgbClr val="2E5B88"/>
                </a:solidFill>
                <a:latin typeface="Arial"/>
              </a:rPr>
              <a:t>•  Uncharted Safety Gap: </a:t>
            </a:r>
            <a:r>
              <a:rPr sz="1050" b="0" i="0">
                <a:solidFill>
                  <a:srgbClr val="1E293B"/>
                </a:solidFill>
                <a:latin typeface="Arial"/>
              </a:rPr>
              <a:t>Compressing sequence length saves memory, but how much factual reliability and safety are sacrificed?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32120"/>
            <a:ext cx="10728655" cy="777240"/>
          </a:xfrm>
          <a:prstGeom prst="roundRect">
            <a:avLst/>
          </a:prstGeom>
          <a:solidFill>
            <a:srgbClr val="EBF5FF"/>
          </a:solidFill>
          <a:ln w="19050">
            <a:solidFill>
              <a:srgbClr val="2E5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9612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2A54"/>
                </a:solidFill>
                <a:latin typeface="Arial"/>
              </a:rPr>
              <a:t>CORE RESEARCH QUESTION: </a:t>
            </a:r>
            <a:r>
              <a:rPr sz="1100" b="0" i="1">
                <a:solidFill>
                  <a:srgbClr val="1E293B"/>
                </a:solidFill>
                <a:latin typeface="Arial"/>
              </a:rPr>
              <a:t>How much predictive safety is sacrificed when aggressively compressing PhoBERT for lower GPU cost?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11277295" y="-4572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457200" y="59436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2E5B88"/>
                </a:solidFill>
                <a:latin typeface="Arial"/>
              </a:rPr>
              <a:t>STAIS 2026  |  SUBMISSION #190  |  ORAL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02A54"/>
                </a:solidFill>
                <a:latin typeface="Arial"/>
              </a:rPr>
              <a:t>RESEARCH QUESTIONS &amp;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572768"/>
            <a:ext cx="1097280" cy="896112"/>
          </a:xfrm>
          <a:prstGeom prst="roundRect">
            <a:avLst/>
          </a:prstGeom>
          <a:solidFill>
            <a:srgbClr val="10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RQ1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536192"/>
            <a:ext cx="8961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02A54"/>
                </a:solidFill>
                <a:latin typeface="Arial"/>
              </a:rPr>
              <a:t>PREDICTIVE PERFORMANCE GAP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 i="0">
                <a:solidFill>
                  <a:srgbClr val="1E293B"/>
                </a:solidFill>
                <a:latin typeface="Arial"/>
              </a:rPr>
              <a:t>How substantially does fact-checking accuracy and class-wise F1 drop between a high-capacity reference configuration and an efficiency-oriented setup on Vietnamese financial news?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0728655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127248"/>
            <a:ext cx="1097280" cy="896112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RQ2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090672"/>
            <a:ext cx="8961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2E5B88"/>
                </a:solidFill>
                <a:latin typeface="Arial"/>
              </a:rPr>
              <a:t>COMPUTATIONAL &amp; HARDWARE COST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 i="0">
                <a:solidFill>
                  <a:srgbClr val="1E293B"/>
                </a:solidFill>
                <a:latin typeface="Arial"/>
              </a:rPr>
              <a:t>What quantitative savings in GPU memory footprint (peak VRAM), pipeline training wall-clock time, and per-sample inference latency are achieved on commodity cloud hardware (NVIDIA T4)?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10728655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4681728"/>
            <a:ext cx="1097280" cy="8961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RQ3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645152"/>
            <a:ext cx="8961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D97706"/>
                </a:solidFill>
                <a:latin typeface="Arial"/>
              </a:rPr>
              <a:t>CONFIGURATION ATTRIBUTION VS. CAUSALITY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 b="0" i="0">
                <a:solidFill>
                  <a:srgbClr val="1E293B"/>
                </a:solidFill>
                <a:latin typeface="Arial"/>
              </a:rPr>
              <a:t>When multiple architectural and training parameters are altered concurrently, which performance trade-offs are structurally guaranteed versus requiring isolated ablation?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11277295" y="-4572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457200" y="59436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2E5B88"/>
                </a:solidFill>
                <a:latin typeface="Arial"/>
              </a:rPr>
              <a:t>STAIS 2026  |  SUBMISSION #190  |  ORAL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02A54"/>
                </a:solidFill>
                <a:latin typeface="Arial"/>
              </a:rPr>
              <a:t>DATASET &amp; DIAGNOSTIC SLICE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554480"/>
            <a:ext cx="4754880" cy="411480"/>
          </a:xfrm>
          <a:prstGeom prst="roundRect">
            <a:avLst/>
          </a:prstGeom>
          <a:solidFill>
            <a:srgbClr val="10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VIFACTCHECK: ECONOMIC SUBSET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 b="1" i="0">
                <a:solidFill>
                  <a:srgbClr val="102A54"/>
                </a:solidFill>
                <a:latin typeface="Arial"/>
              </a:rPr>
              <a:t>•  Benchmark Origin: </a:t>
            </a:r>
            <a:r>
              <a:rPr sz="1050" b="0" i="0">
                <a:solidFill>
                  <a:srgbClr val="1E293B"/>
                </a:solidFill>
                <a:latin typeface="Arial"/>
              </a:rPr>
              <a:t>Filtered from ViFactCheck (AAAI 2025), the premiere Vietnamese fact-checking corpus.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 b="1" i="0">
                <a:solidFill>
                  <a:srgbClr val="102A54"/>
                </a:solidFill>
                <a:latin typeface="Arial"/>
              </a:rPr>
              <a:t>•  Domain Scope: </a:t>
            </a:r>
            <a:r>
              <a:rPr sz="1050" b="0" i="0">
                <a:solidFill>
                  <a:srgbClr val="1E293B"/>
                </a:solidFill>
                <a:latin typeface="Arial"/>
              </a:rPr>
              <a:t>Strictly selected from 'Kinh tế' (Economics) and 'Kinh doanh' (Business) topics.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 b="1" i="0">
                <a:solidFill>
                  <a:srgbClr val="102A54"/>
                </a:solidFill>
                <a:latin typeface="Arial"/>
              </a:rPr>
              <a:t>•  Dataset Scale: </a:t>
            </a:r>
            <a:r>
              <a:rPr sz="1050" b="0" i="0">
                <a:solidFill>
                  <a:srgbClr val="1E293B"/>
                </a:solidFill>
                <a:latin typeface="Arial"/>
              </a:rPr>
              <a:t>682 expert-annotated claim-evidence pairs, preserving original train/dev/test splits: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 b="1" i="0">
                <a:solidFill>
                  <a:srgbClr val="102A54"/>
                </a:solidFill>
                <a:latin typeface="Arial"/>
              </a:rPr>
              <a:t>•  Partition Split: </a:t>
            </a:r>
            <a:r>
              <a:rPr sz="1050" b="0" i="0">
                <a:solidFill>
                  <a:srgbClr val="1E293B"/>
                </a:solidFill>
                <a:latin typeface="Arial"/>
              </a:rPr>
              <a:t>Train: 474 pairs (69.5%) | Dev: 67 pairs (9.8%) | Test: 141 pairs (20.7%).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 b="1" i="0">
                <a:solidFill>
                  <a:srgbClr val="102A54"/>
                </a:solidFill>
                <a:latin typeface="Arial"/>
              </a:rPr>
              <a:t>•  Class Balance: </a:t>
            </a:r>
            <a:r>
              <a:rPr sz="1050" b="0" i="0">
                <a:solidFill>
                  <a:srgbClr val="1E293B"/>
                </a:solidFill>
                <a:latin typeface="Arial"/>
              </a:rPr>
              <a:t>Well-balanced distribution: SUPPORTED (34.9%), REFUTED (32.8%), NEI (32.3%).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15081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554480"/>
            <a:ext cx="4785055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NUMERICALLY RICH DIAGNOSTIC SLICE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7850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100" b="1" i="0">
                <a:solidFill>
                  <a:srgbClr val="D97706"/>
                </a:solidFill>
                <a:latin typeface="Arial"/>
              </a:rPr>
              <a:t>•  Diagnostic Cohort: </a:t>
            </a:r>
            <a:r>
              <a:rPr sz="1050" b="0" i="0">
                <a:solidFill>
                  <a:srgbClr val="1E293B"/>
                </a:solidFill>
                <a:latin typeface="Arial"/>
              </a:rPr>
              <a:t>71 claims in the test split containing explicit numerical, fiscal, and temporal figures.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100" b="1" i="0">
                <a:solidFill>
                  <a:srgbClr val="D97706"/>
                </a:solidFill>
                <a:latin typeface="Arial"/>
              </a:rPr>
              <a:t>•  Financial Data Types: </a:t>
            </a:r>
            <a:r>
              <a:rPr sz="1050" b="0" i="0">
                <a:solidFill>
                  <a:srgbClr val="1E293B"/>
                </a:solidFill>
                <a:latin typeface="Arial"/>
              </a:rPr>
              <a:t>Covers currencies (VND, USD, tỷ đồng), percentages (CPI, GDP, interest rates), and fiscal quarters.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100" b="1" i="0">
                <a:solidFill>
                  <a:srgbClr val="D97706"/>
                </a:solidFill>
                <a:latin typeface="Arial"/>
              </a:rPr>
              <a:t>•  Stress-Test Purpose: </a:t>
            </a:r>
            <a:r>
              <a:rPr sz="1050" b="0" i="0">
                <a:solidFill>
                  <a:srgbClr val="1E293B"/>
                </a:solidFill>
                <a:latin typeface="Arial"/>
              </a:rPr>
              <a:t>Specifically assesses model capability to detect subtle numerical mismatches between claim and evidence.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100" b="1" i="0">
                <a:solidFill>
                  <a:srgbClr val="D97706"/>
                </a:solidFill>
                <a:latin typeface="Arial"/>
              </a:rPr>
              <a:t>•  Methodological Rigor: </a:t>
            </a:r>
            <a:r>
              <a:rPr sz="1050" b="0" i="0">
                <a:solidFill>
                  <a:srgbClr val="1E293B"/>
                </a:solidFill>
                <a:latin typeface="Arial"/>
              </a:rPr>
              <a:t>Treated strictly as a diagnostic slice rather than an isolated arithmetic benchmark.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11277295" y="-4572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457200" y="59436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2E5B88"/>
                </a:solidFill>
                <a:latin typeface="Arial"/>
              </a:rPr>
              <a:t>STAIS 2026  |  SUBMISSION #190  |  ORAL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02A54"/>
                </a:solidFill>
                <a:latin typeface="Arial"/>
              </a:rPr>
              <a:t>SHARED PIPELINE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lowchart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10545775" cy="41692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EBF5FF"/>
          </a:solidFill>
          <a:ln w="19050">
            <a:solidFill>
              <a:srgbClr val="2E5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0644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02A54"/>
                </a:solidFill>
                <a:latin typeface="Arial"/>
              </a:rPr>
              <a:t>KEY ARCHITECTURAL HIGHLIGHT: </a:t>
            </a:r>
            <a:r>
              <a:rPr sz="1000" b="0" i="0">
                <a:solidFill>
                  <a:srgbClr val="1E293B"/>
                </a:solidFill>
                <a:latin typeface="Arial"/>
              </a:rPr>
              <a:t>Both configurations share the 4-stage pipeline while systematically differing in input length (256 vs 192), evidence depth (top-5 vs top-4), and classification loss objective.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11277295" y="-4572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457200" y="59436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2E5B88"/>
                </a:solidFill>
                <a:latin typeface="Arial"/>
              </a:rPr>
              <a:t>STAIS 2026  |  SUBMISSION #190  |  ORAL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02A54"/>
                </a:solidFill>
                <a:latin typeface="Arial"/>
              </a:rPr>
              <a:t>COMPARED CONFIGURATIONS: V1 VS. V2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2588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926080"/>
                <a:gridCol w="3870655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>
                    <a:solidFill>
                      <a:srgbClr val="102A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Reference (v1)</a:t>
                      </a:r>
                    </a:p>
                  </a:txBody>
                  <a:tcPr>
                    <a:solidFill>
                      <a:srgbClr val="102A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Efficiency (v2)</a:t>
                      </a:r>
                    </a:p>
                  </a:txBody>
                  <a:tcPr>
                    <a:solidFill>
                      <a:srgbClr val="102A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Design Group</a:t>
                      </a:r>
                    </a:p>
                  </a:txBody>
                  <a:tcPr>
                    <a:solidFill>
                      <a:srgbClr val="102A5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93B"/>
                          </a:solidFill>
                          <a:latin typeface="Arial"/>
                        </a:rPr>
                        <a:t>Backbone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293B"/>
                          </a:solidFill>
                          <a:latin typeface="Arial"/>
                        </a:rPr>
                        <a:t>vinai/phobert-base (110M)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293B"/>
                          </a:solidFill>
                          <a:latin typeface="Arial"/>
                        </a:rPr>
                        <a:t>vinai/phobert-base (110M)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5B88"/>
                          </a:solidFill>
                          <a:latin typeface="Arial"/>
                        </a:rPr>
                        <a:t>Standardized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93B"/>
                          </a:solidFill>
                          <a:latin typeface="Arial"/>
                        </a:rPr>
                        <a:t>Max Sequence 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293B"/>
                          </a:solidFill>
                          <a:latin typeface="Arial"/>
                        </a:rPr>
                        <a:t>256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0D9488"/>
                          </a:solidFill>
                          <a:latin typeface="Arial"/>
                        </a:rPr>
                        <a:t>192 tokens (-25% compression)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5B88"/>
                          </a:solidFill>
                          <a:latin typeface="Arial"/>
                        </a:rPr>
                        <a:t>Input Budget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93B"/>
                          </a:solidFill>
                          <a:latin typeface="Arial"/>
                        </a:rPr>
                        <a:t>Evidence Selection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293B"/>
                          </a:solidFill>
                          <a:latin typeface="Arial"/>
                        </a:rPr>
                        <a:t>BM25 Top-5 sentences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293B"/>
                          </a:solidFill>
                          <a:latin typeface="Arial"/>
                        </a:rPr>
                        <a:t>Clause-aware BM25 Top-4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5B88"/>
                          </a:solidFill>
                          <a:latin typeface="Arial"/>
                        </a:rPr>
                        <a:t>Retrieval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93B"/>
                          </a:solidFill>
                          <a:latin typeface="Arial"/>
                        </a:rPr>
                        <a:t>Batch / Accumulation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293B"/>
                          </a:solidFill>
                          <a:latin typeface="Arial"/>
                        </a:rPr>
                        <a:t>8 /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293B"/>
                          </a:solidFill>
                          <a:latin typeface="Arial"/>
                        </a:rPr>
                        <a:t>16 /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5B88"/>
                          </a:solidFill>
                          <a:latin typeface="Arial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93B"/>
                          </a:solidFill>
                          <a:latin typeface="Arial"/>
                        </a:rPr>
                        <a:t>Learning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293B"/>
                          </a:solidFill>
                          <a:latin typeface="Arial"/>
                        </a:rPr>
                        <a:t>3e-5 (3 × 10⁻⁵)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293B"/>
                          </a:solidFill>
                          <a:latin typeface="Arial"/>
                        </a:rPr>
                        <a:t>2e-5 (2 × 10⁻⁵)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5B88"/>
                          </a:solidFill>
                          <a:latin typeface="Arial"/>
                        </a:rPr>
                        <a:t>Training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93B"/>
                          </a:solidFill>
                          <a:latin typeface="Arial"/>
                        </a:rPr>
                        <a:t>Loss Objective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293B"/>
                          </a:solidFill>
                          <a:latin typeface="Arial"/>
                        </a:rPr>
                        <a:t>Weighted Cross-Entropy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0D9488"/>
                          </a:solidFill>
                          <a:latin typeface="Arial"/>
                        </a:rPr>
                        <a:t>Focal Loss (γ=2) + Label Smooth (ε=0.1)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5B88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93B"/>
                          </a:solidFill>
                          <a:latin typeface="Arial"/>
                        </a:rPr>
                        <a:t>Representation Head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293B"/>
                          </a:solidFill>
                          <a:latin typeface="Arial"/>
                        </a:rPr>
                        <a:t>Final-layer [CLS]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293B"/>
                          </a:solidFill>
                          <a:latin typeface="Arial"/>
                        </a:rPr>
                        <a:t>4-Layer Weighted Pooling + 5× Dropout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5B88"/>
                          </a:solidFill>
                          <a:latin typeface="Arial"/>
                        </a:rPr>
                        <a:t>Representation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93B"/>
                          </a:solidFill>
                          <a:latin typeface="Arial"/>
                        </a:rPr>
                        <a:t>Data Augmentation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293B"/>
                          </a:solidFill>
                          <a:latin typeface="Arial"/>
                        </a:rPr>
                        <a:t>None (474 originals)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0D9488"/>
                          </a:solidFill>
                          <a:latin typeface="Arial"/>
                        </a:rPr>
                        <a:t>378 sub-claim swapped (852 total)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5B88"/>
                          </a:solidFill>
                          <a:latin typeface="Arial"/>
                        </a:rPr>
                        <a:t>Data Diversity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93B"/>
                          </a:solidFill>
                          <a:latin typeface="Arial"/>
                        </a:rPr>
                        <a:t>Post-Hoc Calibration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293B"/>
                          </a:solidFill>
                          <a:latin typeface="Arial"/>
                        </a:rPr>
                        <a:t>None (Argmax softmax)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293B"/>
                          </a:solidFill>
                          <a:latin typeface="Arial"/>
                        </a:rPr>
                        <a:t>Exploratory entropy-based (0.95 nats)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5B88"/>
                          </a:solidFill>
                          <a:latin typeface="Arial"/>
                        </a:rPr>
                        <a:t>Decision Rule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93B"/>
                          </a:solidFill>
                          <a:latin typeface="Arial"/>
                        </a:rPr>
                        <a:t>Hardware &amp;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293B"/>
                          </a:solidFill>
                          <a:latin typeface="Arial"/>
                        </a:rPr>
                        <a:t>NVIDIA Tesla T4 (16GB), FP16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293B"/>
                          </a:solidFill>
                          <a:latin typeface="Arial"/>
                        </a:rPr>
                        <a:t>NVIDIA Tesla T4 (16GB), FP16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E5B88"/>
                          </a:solidFill>
                          <a:latin typeface="Arial"/>
                        </a:rPr>
                        <a:t>Identical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11277295" y="-4572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457200" y="59436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2E5B88"/>
                </a:solidFill>
                <a:latin typeface="Arial"/>
              </a:rPr>
              <a:t>STAIS 2026  |  SUBMISSION #190  |  ORAL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02A54"/>
                </a:solidFill>
                <a:latin typeface="Arial"/>
              </a:rPr>
              <a:t>PREDICTIVE PERFORMANCE: THE ACCURACY-SAFETY TRADE-OFF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62179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1280160"/>
                <a:gridCol w="1554480"/>
              </a:tblGrid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102A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Reference (v1)</a:t>
                      </a:r>
                    </a:p>
                  </a:txBody>
                  <a:tcPr>
                    <a:solidFill>
                      <a:srgbClr val="102A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Efficiency (v2)</a:t>
                      </a:r>
                    </a:p>
                  </a:txBody>
                  <a:tcPr>
                    <a:solidFill>
                      <a:srgbClr val="102A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Difference</a:t>
                      </a:r>
                    </a:p>
                  </a:txBody>
                  <a:tcPr>
                    <a:solidFill>
                      <a:srgbClr val="102A54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980" b="0" i="0">
                          <a:solidFill>
                            <a:srgbClr val="1E293B"/>
                          </a:solidFill>
                          <a:latin typeface="Arial"/>
                        </a:rPr>
                        <a:t>SUPPORTED F1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 i="0">
                          <a:solidFill>
                            <a:srgbClr val="1E293B"/>
                          </a:solidFill>
                          <a:latin typeface="Arial"/>
                        </a:rPr>
                        <a:t>0.760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 i="0">
                          <a:solidFill>
                            <a:srgbClr val="1E293B"/>
                          </a:solidFill>
                          <a:latin typeface="Arial"/>
                        </a:rPr>
                        <a:t>0.680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 i="0">
                          <a:solidFill>
                            <a:srgbClr val="DC2626"/>
                          </a:solidFill>
                          <a:latin typeface="Arial"/>
                        </a:rPr>
                        <a:t>-0.080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980" b="0" i="0">
                          <a:solidFill>
                            <a:srgbClr val="1E293B"/>
                          </a:solidFill>
                          <a:latin typeface="Arial"/>
                        </a:rPr>
                        <a:t>REFUTED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 i="0">
                          <a:solidFill>
                            <a:srgbClr val="1E293B"/>
                          </a:solidFill>
                          <a:latin typeface="Arial"/>
                        </a:rPr>
                        <a:t>0.690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 i="0">
                          <a:solidFill>
                            <a:srgbClr val="1E293B"/>
                          </a:solidFill>
                          <a:latin typeface="Arial"/>
                        </a:rPr>
                        <a:t>0.560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 i="0">
                          <a:solidFill>
                            <a:srgbClr val="DC2626"/>
                          </a:solidFill>
                          <a:latin typeface="Arial"/>
                        </a:rPr>
                        <a:t>-0.130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980" b="1" i="0">
                          <a:solidFill>
                            <a:srgbClr val="1E293B"/>
                          </a:solidFill>
                          <a:latin typeface="Arial"/>
                        </a:rPr>
                        <a:t>NEI F1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 i="0">
                          <a:solidFill>
                            <a:srgbClr val="1E293B"/>
                          </a:solidFill>
                          <a:latin typeface="Arial"/>
                        </a:rPr>
                        <a:t>0.760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 i="0">
                          <a:solidFill>
                            <a:srgbClr val="1E293B"/>
                          </a:solidFill>
                          <a:latin typeface="Arial"/>
                        </a:rPr>
                        <a:t>0.580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 i="0">
                          <a:solidFill>
                            <a:srgbClr val="DC2626"/>
                          </a:solidFill>
                          <a:latin typeface="Arial"/>
                        </a:rPr>
                        <a:t>-0.180 (Largest Drop!)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980" b="1" i="0">
                          <a:solidFill>
                            <a:srgbClr val="1E293B"/>
                          </a:solidFill>
                          <a:latin typeface="Arial"/>
                        </a:rPr>
                        <a:t>Macro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 i="0">
                          <a:solidFill>
                            <a:srgbClr val="1E293B"/>
                          </a:solidFill>
                          <a:latin typeface="Arial"/>
                        </a:rPr>
                        <a:t>0.738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 i="0">
                          <a:solidFill>
                            <a:srgbClr val="1E293B"/>
                          </a:solidFill>
                          <a:latin typeface="Arial"/>
                        </a:rPr>
                        <a:t>0.605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 i="0">
                          <a:solidFill>
                            <a:srgbClr val="DC2626"/>
                          </a:solidFill>
                          <a:latin typeface="Arial"/>
                        </a:rPr>
                        <a:t>-0.133 (-18.0%)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980" b="1" i="0">
                          <a:solidFill>
                            <a:srgbClr val="1E293B"/>
                          </a:solidFill>
                          <a:latin typeface="Arial"/>
                        </a:rPr>
                        <a:t>Overall 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 i="0">
                          <a:solidFill>
                            <a:srgbClr val="1E293B"/>
                          </a:solidFill>
                          <a:latin typeface="Arial"/>
                        </a:rPr>
                        <a:t>0.738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 i="0">
                          <a:solidFill>
                            <a:srgbClr val="1E293B"/>
                          </a:solidFill>
                          <a:latin typeface="Arial"/>
                        </a:rPr>
                        <a:t>0.610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 i="0">
                          <a:solidFill>
                            <a:srgbClr val="DC2626"/>
                          </a:solidFill>
                          <a:latin typeface="Arial"/>
                        </a:rPr>
                        <a:t>-0.128 (-17.3%)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980" b="1" i="0">
                          <a:solidFill>
                            <a:srgbClr val="1E293B"/>
                          </a:solidFill>
                          <a:latin typeface="Arial"/>
                        </a:rPr>
                        <a:t>Numerically Rich Acc.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 i="0">
                          <a:solidFill>
                            <a:srgbClr val="1E293B"/>
                          </a:solidFill>
                          <a:latin typeface="Arial"/>
                        </a:rPr>
                        <a:t>88.7% (63/71)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 i="0">
                          <a:solidFill>
                            <a:srgbClr val="1E293B"/>
                          </a:solidFill>
                          <a:latin typeface="Arial"/>
                        </a:rPr>
                        <a:t>59.2% (42/71)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 i="0">
                          <a:solidFill>
                            <a:srgbClr val="DC2626"/>
                          </a:solidFill>
                          <a:latin typeface="Arial"/>
                        </a:rPr>
                        <a:t>-29.6 points!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980" b="0" i="0">
                          <a:solidFill>
                            <a:srgbClr val="1E293B"/>
                          </a:solidFill>
                          <a:latin typeface="Arial"/>
                        </a:rPr>
                        <a:t>Correct Test Claims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 i="0">
                          <a:solidFill>
                            <a:srgbClr val="1E293B"/>
                          </a:solidFill>
                          <a:latin typeface="Arial"/>
                        </a:rPr>
                        <a:t>104 / 141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 i="0">
                          <a:solidFill>
                            <a:srgbClr val="1E293B"/>
                          </a:solidFill>
                          <a:latin typeface="Arial"/>
                        </a:rPr>
                        <a:t>86 / 141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 i="0">
                          <a:solidFill>
                            <a:srgbClr val="DC2626"/>
                          </a:solidFill>
                          <a:latin typeface="Arial"/>
                        </a:rPr>
                        <a:t>-18 instances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223760" y="1371600"/>
            <a:ext cx="4236415" cy="4846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0" y="1554480"/>
            <a:ext cx="3870655" cy="411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CRITICAL VULNERABILITY: NEI COLLAPSE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057400"/>
            <a:ext cx="3870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000" b="1" i="0">
                <a:solidFill>
                  <a:srgbClr val="DC2626"/>
                </a:solidFill>
                <a:latin typeface="Arial"/>
              </a:rPr>
              <a:t>•  Asymmetric NEI Loss:
</a:t>
            </a:r>
            <a:r>
              <a:rPr sz="950" b="0" i="0">
                <a:solidFill>
                  <a:srgbClr val="1E293B"/>
                </a:solidFill>
                <a:latin typeface="Arial"/>
              </a:rPr>
              <a:t>The largest class decline occurs for NEI (-0.180 F1), with recall collapsing from 0.76 down to 0.44 (-32 points).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000" b="1" i="0">
                <a:solidFill>
                  <a:srgbClr val="102A54"/>
                </a:solidFill>
                <a:latin typeface="Arial"/>
              </a:rPr>
              <a:t>•  High Precision, Low Recall:
</a:t>
            </a:r>
            <a:r>
              <a:rPr sz="950" b="0" i="0">
                <a:solidFill>
                  <a:srgbClr val="1E293B"/>
                </a:solidFill>
                <a:latin typeface="Arial"/>
              </a:rPr>
              <a:t>v2 achieves Precision=0.83 but Recall=0.44 on NEI. It misses more than 50% of true unverified claims!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000" b="1" i="0">
                <a:solidFill>
                  <a:srgbClr val="102A54"/>
                </a:solidFill>
                <a:latin typeface="Arial"/>
              </a:rPr>
              <a:t>•  Numerical Failure Mode:
</a:t>
            </a:r>
            <a:r>
              <a:rPr sz="950" b="0" i="0">
                <a:solidFill>
                  <a:srgbClr val="1E293B"/>
                </a:solidFill>
                <a:latin typeface="Arial"/>
              </a:rPr>
              <a:t>Accuracy on the 71 numerically rich claims plunges by nearly 30 points (88.7% -&gt; 59.2%).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000" b="1" i="0">
                <a:solidFill>
                  <a:srgbClr val="102A54"/>
                </a:solidFill>
                <a:latin typeface="Arial"/>
              </a:rPr>
              <a:t>•  Real-World Danger:
</a:t>
            </a:r>
            <a:r>
              <a:rPr sz="950" b="0" i="0">
                <a:solidFill>
                  <a:srgbClr val="1E293B"/>
                </a:solidFill>
                <a:latin typeface="Arial"/>
              </a:rPr>
              <a:t>Predicting SUPPORTED or REFUTED when evidence is actually insufficient produces catastrophic false confidence.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11277295" y="-4572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457200" y="59436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2E5B88"/>
                </a:solidFill>
                <a:latin typeface="Arial"/>
              </a:rPr>
              <a:t>STAIS 2026  |  SUBMISSION #190  |  ORAL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02A54"/>
                </a:solidFill>
                <a:latin typeface="Arial"/>
              </a:rPr>
              <a:t>COMPUTATIONAL EFFICIENCY &amp; STRUCTURAL MEMORY SAVINGS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6217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280160"/>
                <a:gridCol w="1280160"/>
                <a:gridCol w="146304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Resource Metric</a:t>
                      </a:r>
                    </a:p>
                  </a:txBody>
                  <a:tcPr>
                    <a:solidFill>
                      <a:srgbClr val="102A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Reference (v1)</a:t>
                      </a:r>
                    </a:p>
                  </a:txBody>
                  <a:tcPr>
                    <a:solidFill>
                      <a:srgbClr val="102A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Efficiency (v2)</a:t>
                      </a:r>
                    </a:p>
                  </a:txBody>
                  <a:tcPr>
                    <a:solidFill>
                      <a:srgbClr val="102A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Reduction</a:t>
                      </a:r>
                    </a:p>
                  </a:txBody>
                  <a:tcPr>
                    <a:solidFill>
                      <a:srgbClr val="102A5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E293B"/>
                          </a:solidFill>
                          <a:latin typeface="Arial"/>
                        </a:rPr>
                        <a:t>Peak VRAM Footprint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93B"/>
                          </a:solidFill>
                          <a:latin typeface="Arial"/>
                        </a:rPr>
                        <a:t>10.4 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93B"/>
                          </a:solidFill>
                          <a:latin typeface="Arial"/>
                        </a:rPr>
                        <a:t>5.9 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16A34A"/>
                          </a:solidFill>
                          <a:latin typeface="Arial"/>
                        </a:rPr>
                        <a:t>-43.2%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E293B"/>
                          </a:solidFill>
                          <a:latin typeface="Arial"/>
                        </a:rPr>
                        <a:t>Inference Latency / Sample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93B"/>
                          </a:solidFill>
                          <a:latin typeface="Arial"/>
                        </a:rPr>
                        <a:t>0.85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93B"/>
                          </a:solidFill>
                          <a:latin typeface="Arial"/>
                        </a:rPr>
                        <a:t>0.52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16A34A"/>
                          </a:solidFill>
                          <a:latin typeface="Arial"/>
                        </a:rPr>
                        <a:t>-38.8%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E293B"/>
                          </a:solidFill>
                          <a:latin typeface="Arial"/>
                        </a:rPr>
                        <a:t>Total GPU Training 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93B"/>
                          </a:solidFill>
                          <a:latin typeface="Arial"/>
                        </a:rPr>
                        <a:t>~15 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93B"/>
                          </a:solidFill>
                          <a:latin typeface="Arial"/>
                        </a:rPr>
                        <a:t>~9 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16A34A"/>
                          </a:solidFill>
                          <a:latin typeface="Arial"/>
                        </a:rPr>
                        <a:t>-40.0%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E293B"/>
                          </a:solidFill>
                          <a:latin typeface="Arial"/>
                        </a:rPr>
                        <a:t>Total CPU Pipeline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93B"/>
                          </a:solidFill>
                          <a:latin typeface="Arial"/>
                        </a:rPr>
                        <a:t>~51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93B"/>
                          </a:solidFill>
                          <a:latin typeface="Arial"/>
                        </a:rPr>
                        <a:t>~32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16A34A"/>
                          </a:solidFill>
                          <a:latin typeface="Arial"/>
                        </a:rPr>
                        <a:t>-37.2%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480560"/>
            <a:ext cx="62179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5852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02A54"/>
                </a:solidFill>
                <a:latin typeface="Arial"/>
              </a:rPr>
              <a:t>STATISTICAL SIGNIFICANCE &amp; ROBUSTNESS
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50" b="0" i="0">
                <a:solidFill>
                  <a:srgbClr val="1E293B"/>
                </a:solidFill>
                <a:latin typeface="Arial"/>
              </a:rPr>
              <a:t>•  1,000 Bootstrap Resamples on test split: v1 Macro F1 = 0.738 [95% CI: 0.668, 0.804] vs. v2 Macro F1 = 0.605 [95% CI: 0.531, 0.676] (p &lt; 0.01).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950" b="0" i="0">
                <a:solidFill>
                  <a:srgbClr val="1E293B"/>
                </a:solidFill>
                <a:latin typeface="Arial"/>
              </a:rPr>
              <a:t>•  The 0.133 performance gap substantially exceeds typical PhoBERT random seed variance (~0.015), validating systematic configuration differences.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371600"/>
            <a:ext cx="423641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1554480"/>
            <a:ext cx="3870655" cy="41148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WHY VRAM DROPS BY EXACTLY 43.2%?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57400"/>
            <a:ext cx="3870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00" b="1" i="0">
                <a:solidFill>
                  <a:srgbClr val="102A54"/>
                </a:solidFill>
                <a:latin typeface="Arial"/>
              </a:rPr>
              <a:t>•  Structural Determinism:
</a:t>
            </a:r>
            <a:r>
              <a:rPr sz="950" b="0" i="0">
                <a:solidFill>
                  <a:srgbClr val="1E293B"/>
                </a:solidFill>
                <a:latin typeface="Arial"/>
              </a:rPr>
              <a:t>In Transformer encoders, self-attention memory complexity scales quadratically with sequence length: O(L²).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00" b="1" i="0">
                <a:solidFill>
                  <a:srgbClr val="102A54"/>
                </a:solidFill>
                <a:latin typeface="Arial"/>
              </a:rPr>
              <a:t>•  Theoretical Derivation:
</a:t>
            </a:r>
            <a:r>
              <a:rPr sz="950" b="0" i="0">
                <a:solidFill>
                  <a:srgbClr val="1E293B"/>
                </a:solidFill>
                <a:latin typeface="Arial"/>
              </a:rPr>
              <a:t>Compressing length from L=256 to L=192 yields:
(192 / 256)² = (0.75)² = 0.5625
→ Theoretical attention memory drop: 43.75%!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00" b="1" i="0">
                <a:solidFill>
                  <a:srgbClr val="102A54"/>
                </a:solidFill>
                <a:latin typeface="Arial"/>
              </a:rPr>
              <a:t>•  Empirical Validation:
</a:t>
            </a:r>
            <a:r>
              <a:rPr sz="950" b="0" i="0">
                <a:solidFill>
                  <a:srgbClr val="1E293B"/>
                </a:solidFill>
                <a:latin typeface="Arial"/>
              </a:rPr>
              <a:t>Measured peak VRAM drop on NVIDIA T4 is 43.2% (10.4 GB -&gt; 5.9 GB), perfectly validating the quadratic model.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000" b="1" i="0">
                <a:solidFill>
                  <a:srgbClr val="102A54"/>
                </a:solidFill>
                <a:latin typeface="Arial"/>
              </a:rPr>
              <a:t>•  Engineering Value:
</a:t>
            </a:r>
            <a:r>
              <a:rPr sz="950" b="0" i="0">
                <a:solidFill>
                  <a:srgbClr val="1E293B"/>
                </a:solidFill>
                <a:latin typeface="Arial"/>
              </a:rPr>
              <a:t>v2 runs comfortably on budget GPUs with ≤6 GB VRAM, whereas v1 requires a dedicated 16 GB GPU.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11277295" y="-4572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457200" y="59436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2E5B88"/>
                </a:solidFill>
                <a:latin typeface="Arial"/>
              </a:rPr>
              <a:t>STAIS 2026  |  SUBMISSION #190  |  ORAL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02A54"/>
                </a:solidFill>
                <a:latin typeface="Arial"/>
              </a:rPr>
              <a:t>ABLATION ANALYSIS: SEPARATING FACTS FROM HYPOTHESES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554480"/>
            <a:ext cx="4754880" cy="411480"/>
          </a:xfrm>
          <a:prstGeom prst="roundRect">
            <a:avLst/>
          </a:prstGeom>
          <a:solidFill>
            <a:srgbClr val="10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QUALITY AUDIT: 378 SYNTHETIC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00" b="1" i="0">
                <a:solidFill>
                  <a:srgbClr val="102A54"/>
                </a:solidFill>
                <a:latin typeface="Arial"/>
              </a:rPr>
              <a:t>•  Augmentation Logic: </a:t>
            </a:r>
            <a:r>
              <a:rPr sz="950" b="0" i="0">
                <a:solidFill>
                  <a:srgbClr val="1E293B"/>
                </a:solidFill>
                <a:latin typeface="Arial"/>
              </a:rPr>
              <a:t>Claims split at coordinate conjunctions (và, nhưng, còn, đồng thời) and swapped while preserving labels.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00" b="1" i="0">
                <a:solidFill>
                  <a:srgbClr val="102A54"/>
                </a:solidFill>
                <a:latin typeface="Arial"/>
              </a:rPr>
              <a:t>•  Audit Protocol: </a:t>
            </a:r>
            <a:r>
              <a:rPr sz="950" b="0" i="0">
                <a:solidFill>
                  <a:srgbClr val="1E293B"/>
                </a:solidFill>
                <a:latin typeface="Arial"/>
              </a:rPr>
              <a:t>Evaluated 100 randomly sampled generated pairs (26.5% of synthetic data) by human reviewers: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00" b="1" i="0">
                <a:solidFill>
                  <a:srgbClr val="16A34A"/>
                </a:solidFill>
                <a:latin typeface="Arial"/>
              </a:rPr>
              <a:t>•  ✓ 94% Strict Preservation: </a:t>
            </a:r>
            <a:r>
              <a:rPr sz="950" b="0" i="0">
                <a:solidFill>
                  <a:srgbClr val="1E293B"/>
                </a:solidFill>
                <a:latin typeface="Arial"/>
              </a:rPr>
              <a:t>Swapped clauses maintained exact logical equivalence and factual truth value.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00" b="1" i="0">
                <a:solidFill>
                  <a:srgbClr val="16A34A"/>
                </a:solidFill>
                <a:latin typeface="Arial"/>
              </a:rPr>
              <a:t>•  ✓ 4% Stylistic Stiffness: </a:t>
            </a:r>
            <a:r>
              <a:rPr sz="950" b="0" i="0">
                <a:solidFill>
                  <a:srgbClr val="1E293B"/>
                </a:solidFill>
                <a:latin typeface="Arial"/>
              </a:rPr>
              <a:t>Grammatically awkward phrasing but semantically completely sound.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00" b="1" i="0">
                <a:solidFill>
                  <a:srgbClr val="16A34A"/>
                </a:solidFill>
                <a:latin typeface="Arial"/>
              </a:rPr>
              <a:t>•  ✓ 2% Scope Ambiguity: </a:t>
            </a:r>
            <a:r>
              <a:rPr sz="950" b="0" i="0">
                <a:solidFill>
                  <a:srgbClr val="1E293B"/>
                </a:solidFill>
                <a:latin typeface="Arial"/>
              </a:rPr>
              <a:t>Minor boundary ambiguity; negligible noise level.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000" b="1" i="0">
                <a:solidFill>
                  <a:srgbClr val="102A54"/>
                </a:solidFill>
                <a:latin typeface="Arial"/>
              </a:rPr>
              <a:t>•  Takeaway: </a:t>
            </a:r>
            <a:r>
              <a:rPr sz="950" b="0" i="0">
                <a:solidFill>
                  <a:srgbClr val="1E293B"/>
                </a:solidFill>
                <a:latin typeface="Arial"/>
              </a:rPr>
              <a:t>The +79.7% dataset expansion added syntactic diversity without injecting catastrophic label noise.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15081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554480"/>
            <a:ext cx="4785055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ENTROPY CALIBRATION: PRE VS. POST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7850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000" b="1" i="0">
                <a:solidFill>
                  <a:srgbClr val="D97706"/>
                </a:solidFill>
                <a:latin typeface="Arial"/>
              </a:rPr>
              <a:t>•  Heuristic Decision Rule:
</a:t>
            </a:r>
            <a:r>
              <a:rPr sz="950" b="0" i="0">
                <a:solidFill>
                  <a:srgbClr val="1E293B"/>
                </a:solidFill>
                <a:latin typeface="Arial"/>
              </a:rPr>
              <a:t>If prediction entropy H(p) &gt; 0.95 nats, reassign to NEI (ln(3) ≈ 1.0986 is maximum entropy for 3 classes).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000" b="1" i="0">
                <a:solidFill>
                  <a:srgbClr val="102A54"/>
                </a:solidFill>
                <a:latin typeface="Arial"/>
              </a:rPr>
              <a:t>•  Empirical Comparison:
</a:t>
            </a:r>
            <a:r>
              <a:rPr sz="950" b="0" i="0">
                <a:solidFill>
                  <a:srgbClr val="1E293B"/>
                </a:solidFill>
                <a:latin typeface="Arial"/>
              </a:rPr>
              <a:t>Before Rule (Raw v2): Macro F1 = 0.6054, Acc = 0.6099
After Rule (&gt;0.95 nats): Macro F1 = 0.5058, Acc = 0.5319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000" b="1" i="0">
                <a:solidFill>
                  <a:srgbClr val="102A54"/>
                </a:solidFill>
                <a:latin typeface="Arial"/>
              </a:rPr>
              <a:t>•  Severe False Positives:
</a:t>
            </a:r>
            <a:r>
              <a:rPr sz="950" b="0" i="0">
                <a:solidFill>
                  <a:srgbClr val="1E293B"/>
                </a:solidFill>
                <a:latin typeface="Arial"/>
              </a:rPr>
              <a:t>The rule aggressively reassigned 43 instances (30.5% of test set) to NEI, causing a catastrophic 10-point F1 drop!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000" b="1" i="0">
                <a:solidFill>
                  <a:srgbClr val="102A54"/>
                </a:solidFill>
                <a:latin typeface="Arial"/>
              </a:rPr>
              <a:t>•  Rigorous Conclusion:
</a:t>
            </a:r>
            <a:r>
              <a:rPr sz="950" b="0" i="0">
                <a:solidFill>
                  <a:srgbClr val="1E293B"/>
                </a:solidFill>
                <a:latin typeface="Arial"/>
              </a:rPr>
              <a:t>The 0.95 threshold did NOT cause v2's low recall; heuristic thresholding harms calibration. Raw v2 is correctly retained as the benchmark.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11277295" y="-4572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457200" y="59436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2E5B88"/>
                </a:solidFill>
                <a:latin typeface="Arial"/>
              </a:rPr>
              <a:t>STAIS 2026  |  SUBMISSION #190  |  ORAL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02A54"/>
                </a:solidFill>
                <a:latin typeface="Arial"/>
              </a:rPr>
              <a:t>ERROR TAXONOMY &amp; TWO-STAGE CASCADE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lowchart_cascade_algorith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53312"/>
            <a:ext cx="10545775" cy="424828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EBF5FF"/>
          </a:solidFill>
          <a:ln w="19050">
            <a:solidFill>
              <a:srgbClr val="2E5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0644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02A54"/>
                </a:solidFill>
                <a:latin typeface="Arial"/>
              </a:rPr>
              <a:t>OPERATIONAL TAKEAWAY: </a:t>
            </a:r>
            <a:r>
              <a:rPr sz="1000" b="0" i="0">
                <a:solidFill>
                  <a:srgbClr val="1E293B"/>
                </a:solidFill>
                <a:latin typeface="Arial"/>
              </a:rPr>
              <a:t>58.6% of numerical errors stem from retrieval misses and sequence clipping. The Two-Stage Cascade preserves 97.4% of v1's F1 while reducing system latency by 25.8%!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11277295" y="-4572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457200" y="59436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2E5B88"/>
                </a:solidFill>
                <a:latin typeface="Arial"/>
              </a:rPr>
              <a:t>STAIS 2026  |  SUBMISSION #190  |  ORAL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02A54"/>
                </a:solidFill>
                <a:latin typeface="Arial"/>
              </a:rPr>
              <a:t>CONCLUSION &amp; FUTURE DIRECTIONS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554480"/>
            <a:ext cx="4754880" cy="411480"/>
          </a:xfrm>
          <a:prstGeom prst="roundRect">
            <a:avLst/>
          </a:prstGeom>
          <a:solidFill>
            <a:srgbClr val="10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CORE RESEARCH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050" b="1" i="0">
                <a:solidFill>
                  <a:srgbClr val="16A34A"/>
                </a:solidFill>
                <a:latin typeface="Arial"/>
              </a:rPr>
              <a:t>✓  Reference v1 for Safety:
</a:t>
            </a:r>
            <a:r>
              <a:rPr sz="1000" b="0" i="0">
                <a:solidFill>
                  <a:srgbClr val="1E293B"/>
                </a:solidFill>
                <a:latin typeface="Arial"/>
              </a:rPr>
              <a:t>Mandatory whenever predictive reliability and zero false confidence are required in financial fact-checking.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050" b="1" i="0">
                <a:solidFill>
                  <a:srgbClr val="16A34A"/>
                </a:solidFill>
                <a:latin typeface="Arial"/>
              </a:rPr>
              <a:t>✓  Efficiency v2 for Fast Screening:
</a:t>
            </a:r>
            <a:r>
              <a:rPr sz="1000" b="0" i="0">
                <a:solidFill>
                  <a:srgbClr val="1E293B"/>
                </a:solidFill>
                <a:latin typeface="Arial"/>
              </a:rPr>
              <a:t>Yields -43.2% VRAM and -38.8% latency, but sequence truncation harms numerical context and NEI recall.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050" b="1" i="0">
                <a:solidFill>
                  <a:srgbClr val="16A34A"/>
                </a:solidFill>
                <a:latin typeface="Arial"/>
              </a:rPr>
              <a:t>✓  Cascade Triage for Deployment:
</a:t>
            </a:r>
            <a:r>
              <a:rPr sz="1000" b="0" i="0">
                <a:solidFill>
                  <a:srgbClr val="1E293B"/>
                </a:solidFill>
                <a:latin typeface="Arial"/>
              </a:rPr>
              <a:t>Achieves the optimal Pareto frontier, balancing cloud throughput with financial safety.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150815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554480"/>
            <a:ext cx="4785055" cy="411480"/>
          </a:xfrm>
          <a:prstGeom prst="round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FUTURE ROADMAP: 'v1-Lite'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78505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050" b="1" i="0">
                <a:solidFill>
                  <a:srgbClr val="D97706"/>
                </a:solidFill>
                <a:latin typeface="Arial"/>
              </a:rPr>
              <a:t>→  Asymmetric Cost-Sensitive Loss:
</a:t>
            </a:r>
            <a:r>
              <a:rPr sz="1000" b="0" i="0">
                <a:solidFill>
                  <a:srgbClr val="1E293B"/>
                </a:solidFill>
                <a:latin typeface="Arial"/>
              </a:rPr>
              <a:t>Penalize NEI false negatives 2.5× to recover recall without any inference latency penalty.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050" b="1" i="0">
                <a:solidFill>
                  <a:srgbClr val="D97706"/>
                </a:solidFill>
                <a:latin typeface="Arial"/>
              </a:rPr>
              <a:t>→  Query-Guided Token Budgeting:
</a:t>
            </a:r>
            <a:r>
              <a:rPr sz="1000" b="0" i="0">
                <a:solidFill>
                  <a:srgbClr val="1E293B"/>
                </a:solidFill>
                <a:latin typeface="Arial"/>
              </a:rPr>
              <a:t>Selectively preserve numerical evidence rather than applying a naive hard 192-token cutoff.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050" b="1" i="0">
                <a:solidFill>
                  <a:srgbClr val="D97706"/>
                </a:solidFill>
                <a:latin typeface="Arial"/>
              </a:rPr>
              <a:t>→  Semi-Supervised Corpus Expansion:
</a:t>
            </a:r>
            <a:r>
              <a:rPr sz="1000" b="0" i="0">
                <a:solidFill>
                  <a:srgbClr val="1E293B"/>
                </a:solidFill>
                <a:latin typeface="Arial"/>
              </a:rPr>
              <a:t>Scale the Vietnamese financial fact-checking corpus beyond 682 pairs via automated news scraping.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532120"/>
            <a:ext cx="10728655" cy="777240"/>
          </a:xfrm>
          <a:prstGeom prst="rect">
            <a:avLst/>
          </a:prstGeom>
          <a:solidFill>
            <a:srgbClr val="10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96128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Thank You for Your Attention!  |  Questions &amp; Feedback Welcome
</a:t>
            </a:r>
          </a:p>
          <a:p>
            <a:pPr algn="ctr"/>
            <a:r>
              <a:rPr sz="950" b="0" i="0">
                <a:solidFill>
                  <a:srgbClr val="DAE2ED"/>
                </a:solidFill>
                <a:latin typeface="Arial"/>
              </a:rPr>
              <a:t>Faculty of Data Science in Business | Ho Chi Minh University of Banking (HUB), Vietnam  |  Contact: 030239230031@st.buh.edu.vn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11277295" y="-4572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457200" y="59436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1645920"/>
            <a:ext cx="7619695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2011680"/>
            <a:ext cx="725393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 i="0">
                <a:solidFill>
                  <a:srgbClr val="102A54"/>
                </a:solidFill>
                <a:latin typeface="Arial"/>
              </a:rPr>
              <a:t>Q &amp; A
</a:t>
            </a:r>
          </a:p>
          <a:p>
            <a:pPr algn="ctr">
              <a:spcBef>
                <a:spcPts val="1000"/>
              </a:spcBef>
            </a:pPr>
            <a:r>
              <a:rPr sz="1600" b="1" i="0">
                <a:solidFill>
                  <a:srgbClr val="2E5B88"/>
                </a:solidFill>
                <a:latin typeface="Arial"/>
              </a:rPr>
              <a:t>Questions &amp; Scientific Discussion
</a:t>
            </a:r>
          </a:p>
          <a:p>
            <a:pPr algn="ctr">
              <a:spcBef>
                <a:spcPts val="600"/>
              </a:spcBef>
            </a:pPr>
            <a:r>
              <a:rPr sz="1200" b="0" i="0">
                <a:solidFill>
                  <a:srgbClr val="64748B"/>
                </a:solidFill>
                <a:latin typeface="Arial"/>
              </a:rPr>
              <a:t>Submission #190 | STAIS 2026 International Conference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11277295" y="-4572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457200" y="5943600"/>
            <a:ext cx="1371600" cy="1371600"/>
          </a:xfrm>
          <a:prstGeom prst="arc">
            <a:avLst/>
          </a:prstGeom>
          <a:noFill/>
          <a:ln w="4445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1737360"/>
            <a:ext cx="8168335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 i="0">
                <a:solidFill>
                  <a:srgbClr val="102A54"/>
                </a:solidFill>
                <a:latin typeface="Arial"/>
              </a:rPr>
              <a:t>THANK YOU!
</a:t>
            </a:r>
          </a:p>
          <a:p>
            <a:pPr algn="ctr">
              <a:spcBef>
                <a:spcPts val="1200"/>
              </a:spcBef>
            </a:pPr>
            <a:r>
              <a:rPr sz="1500" b="1" i="0">
                <a:solidFill>
                  <a:srgbClr val="2E5B88"/>
                </a:solidFill>
                <a:latin typeface="Arial"/>
              </a:rPr>
              <a:t>Faculty of Data Science in Business
Ho Chi Minh University of Banking (HUB), Vietnam</a:t>
            </a:r>
          </a:p>
          <a:p>
            <a:pPr algn="ctr">
              <a:spcBef>
                <a:spcPts val="1000"/>
              </a:spcBef>
            </a:pPr>
            <a:r>
              <a:rPr sz="1200" b="0" i="0">
                <a:solidFill>
                  <a:srgbClr val="64748B"/>
                </a:solidFill>
                <a:latin typeface="Arial"/>
              </a:rPr>
              <a:t>Corresponding Author: thuannd@buh.edu.vn  |  Presenter: 030239230031@st.buh.edu.vn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